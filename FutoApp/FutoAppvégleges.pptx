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7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Tomorrow" panose="020B0604020202020204" charset="0"/>
      <p:regular r:id="rId14"/>
    </p:embeddedFont>
    <p:embeddedFont>
      <p:font typeface="Tomorrow Semi Bold" panose="020B0604020202020204" charset="0"/>
      <p:regular r:id="rId15"/>
    </p:embeddedFont>
    <p:embeddedFont>
      <p:font typeface="Trebuchet MS" panose="020B0603020202020204" pitchFamily="34" charset="0"/>
      <p:regular r:id="rId16"/>
      <p:bold r:id="rId17"/>
      <p:italic r:id="rId18"/>
      <p:boldItalic r:id="rId19"/>
    </p:embeddedFont>
    <p:embeddedFont>
      <p:font typeface="Wingdings 3" panose="05040102010807070707" pitchFamily="18" charset="2"/>
      <p:regular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EA62"/>
    <a:srgbClr val="DFFB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12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1T19:07:44.161"/>
    </inkml:context>
    <inkml:brush xml:id="br0">
      <inkml:brushProperty name="width" value="0.35" units="cm"/>
      <inkml:brushProperty name="height" value="0.35" units="cm"/>
      <inkml:brushProperty name="color" value="#FFFFFF"/>
      <inkml:brushProperty name="ignorePressure" value="1"/>
    </inkml:brush>
  </inkml:definitions>
  <inkml:trace contextRef="#ctx0" brushRef="#br0">1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1T19:07:50.190"/>
    </inkml:context>
    <inkml:brush xml:id="br0">
      <inkml:brushProperty name="width" value="0.35" units="cm"/>
      <inkml:brushProperty name="height" value="0.35" units="cm"/>
      <inkml:brushProperty name="color" value="#FFFFFF"/>
      <inkml:brushProperty name="ignorePressure" value="1"/>
    </inkml:brush>
  </inkml:definitions>
  <inkml:trace contextRef="#ctx0" brushRef="#br0">1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21T19:17:50.383"/>
    </inkml:context>
    <inkml:brush xml:id="br0">
      <inkml:brushProperty name="width" value="0.35" units="cm"/>
      <inkml:brushProperty name="height" value="0.35" units="cm"/>
      <inkml:brushProperty name="color" value="#FFFFFF"/>
      <inkml:brushProperty name="ignorePressure" value="1"/>
    </inkml:brush>
  </inkml:definitions>
  <inkml:trace contextRef="#ctx0" brushRef="#br0">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9816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0160"/>
            <a:ext cx="14630400" cy="823976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8481" y="2885441"/>
            <a:ext cx="9320323" cy="1975562"/>
          </a:xfrm>
        </p:spPr>
        <p:txBody>
          <a:bodyPr anchor="b">
            <a:noAutofit/>
          </a:bodyPr>
          <a:lstStyle>
            <a:lvl1pPr algn="r">
              <a:defRPr sz="6480">
                <a:solidFill>
                  <a:schemeClr val="accent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8481" y="4861000"/>
            <a:ext cx="9320323" cy="131627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90934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32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08721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3241041"/>
            <a:ext cx="10316002" cy="2191897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03248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34422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1" y="2592707"/>
            <a:ext cx="5020842" cy="4656926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7964" y="2592707"/>
            <a:ext cx="5020841" cy="465692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1255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894" y="2593180"/>
            <a:ext cx="502274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0894" y="3284695"/>
            <a:ext cx="5022748" cy="3964940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06059" y="2593180"/>
            <a:ext cx="5022742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06062" y="3284695"/>
            <a:ext cx="5022740" cy="3964940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8032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731520"/>
            <a:ext cx="10316002" cy="158496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85361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24480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1798325"/>
            <a:ext cx="4625434" cy="1534159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2554" y="617910"/>
            <a:ext cx="5416249" cy="6631724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1" y="3332483"/>
            <a:ext cx="4625434" cy="3101339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548476" indent="0">
              <a:buNone/>
              <a:defRPr sz="1680"/>
            </a:lvl2pPr>
            <a:lvl3pPr marL="1096951" indent="0">
              <a:buNone/>
              <a:defRPr sz="1440"/>
            </a:lvl3pPr>
            <a:lvl4pPr marL="1645427" indent="0">
              <a:buNone/>
              <a:defRPr sz="1200"/>
            </a:lvl4pPr>
            <a:lvl5pPr marL="2193901" indent="0">
              <a:buNone/>
              <a:defRPr sz="1200"/>
            </a:lvl5pPr>
            <a:lvl6pPr marL="2742377" indent="0">
              <a:buNone/>
              <a:defRPr sz="1200"/>
            </a:lvl6pPr>
            <a:lvl7pPr marL="3290852" indent="0">
              <a:buNone/>
              <a:defRPr sz="1200"/>
            </a:lvl7pPr>
            <a:lvl8pPr marL="3839328" indent="0">
              <a:buNone/>
              <a:defRPr sz="1200"/>
            </a:lvl8pPr>
            <a:lvl9pPr marL="4387804" indent="0">
              <a:buNone/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75070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5760720"/>
            <a:ext cx="10316000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801" y="731520"/>
            <a:ext cx="10316002" cy="4614862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2" y="6440806"/>
            <a:ext cx="10316000" cy="808829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30286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731520"/>
            <a:ext cx="10316002" cy="40843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364480"/>
            <a:ext cx="10316002" cy="1885154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07189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1" y="731520"/>
            <a:ext cx="9712961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39367" y="4358640"/>
            <a:ext cx="8669429" cy="4572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92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364480"/>
            <a:ext cx="10316002" cy="1885154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50244" y="94845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71613" y="34638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216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1820978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2318386"/>
            <a:ext cx="10316002" cy="3114552"/>
          </a:xfrm>
        </p:spPr>
        <p:txBody>
          <a:bodyPr anchor="b">
            <a:normAutofit/>
          </a:bodyPr>
          <a:lstStyle>
            <a:lvl1pPr algn="l">
              <a:defRPr sz="528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24233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1" y="731520"/>
            <a:ext cx="9712961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9" y="4815840"/>
            <a:ext cx="10316003" cy="6170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50244" y="94845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71613" y="34638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034026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731520"/>
            <a:ext cx="10305844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9" y="4815840"/>
            <a:ext cx="10316003" cy="6170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65014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59420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61208" y="731520"/>
            <a:ext cx="1565692" cy="6301741"/>
          </a:xfrm>
        </p:spPr>
        <p:txBody>
          <a:bodyPr vert="eaVert" anchor="ctr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2" y="731520"/>
            <a:ext cx="8472180" cy="630174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91148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40421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31488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08811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42504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3638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68063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4862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0160"/>
            <a:ext cx="14630400" cy="823976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1" y="731520"/>
            <a:ext cx="10316002" cy="15849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1" y="2592707"/>
            <a:ext cx="10316002" cy="4656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46160" y="7249635"/>
            <a:ext cx="109432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2801" y="7249635"/>
            <a:ext cx="755713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08796" y="7249635"/>
            <a:ext cx="82000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792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customXml" Target="../ink/ink1.xm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10" Type="http://schemas.openxmlformats.org/officeDocument/2006/relationships/image" Target="../media/image1.png"/><Relationship Id="rId9" Type="http://schemas.openxmlformats.org/officeDocument/2006/relationships/customXml" Target="../ink/ink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698818" y="307638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FutóApp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5698818" y="412532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C# Edzésnapló Projekt</a:t>
            </a: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Szabadkéz 5">
                <a:extLst>
                  <a:ext uri="{FF2B5EF4-FFF2-40B4-BE49-F238E27FC236}">
                    <a16:creationId xmlns:a16="http://schemas.microsoft.com/office/drawing/2014/main" id="{4C5D5204-018F-4377-B846-86C31B2B645A}"/>
                  </a:ext>
                </a:extLst>
              </p14:cNvPr>
              <p14:cNvContentPartPr/>
              <p14:nvPr/>
            </p14:nvContentPartPr>
            <p14:xfrm>
              <a:off x="10001330" y="3076024"/>
              <a:ext cx="360" cy="360"/>
            </p14:xfrm>
          </p:contentPart>
        </mc:Choice>
        <mc:Fallback xmlns="">
          <p:pic>
            <p:nvPicPr>
              <p:cNvPr id="6" name="Szabadkéz 5">
                <a:extLst>
                  <a:ext uri="{FF2B5EF4-FFF2-40B4-BE49-F238E27FC236}">
                    <a16:creationId xmlns:a16="http://schemas.microsoft.com/office/drawing/2014/main" id="{4C5D5204-018F-4377-B846-86C31B2B645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938690" y="3013384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Szabadkéz 6">
                <a:extLst>
                  <a:ext uri="{FF2B5EF4-FFF2-40B4-BE49-F238E27FC236}">
                    <a16:creationId xmlns:a16="http://schemas.microsoft.com/office/drawing/2014/main" id="{AE1CB245-A096-4CDB-A21E-7BEADD350916}"/>
                  </a:ext>
                </a:extLst>
              </p14:cNvPr>
              <p14:cNvContentPartPr/>
              <p14:nvPr/>
            </p14:nvContentPartPr>
            <p14:xfrm>
              <a:off x="7421210" y="1459984"/>
              <a:ext cx="360" cy="360"/>
            </p14:xfrm>
          </p:contentPart>
        </mc:Choice>
        <mc:Fallback xmlns="">
          <p:pic>
            <p:nvPicPr>
              <p:cNvPr id="7" name="Szabadkéz 6">
                <a:extLst>
                  <a:ext uri="{FF2B5EF4-FFF2-40B4-BE49-F238E27FC236}">
                    <a16:creationId xmlns:a16="http://schemas.microsoft.com/office/drawing/2014/main" id="{AE1CB245-A096-4CDB-A21E-7BEADD35091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58570" y="1397344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Szabadkéz 9">
                <a:extLst>
                  <a:ext uri="{FF2B5EF4-FFF2-40B4-BE49-F238E27FC236}">
                    <a16:creationId xmlns:a16="http://schemas.microsoft.com/office/drawing/2014/main" id="{D3F9B378-5008-45F4-B353-4A667CD4F479}"/>
                  </a:ext>
                </a:extLst>
              </p14:cNvPr>
              <p14:cNvContentPartPr/>
              <p14:nvPr/>
            </p14:nvContentPartPr>
            <p14:xfrm>
              <a:off x="9774530" y="2806744"/>
              <a:ext cx="360" cy="360"/>
            </p14:xfrm>
          </p:contentPart>
        </mc:Choice>
        <mc:Fallback xmlns="">
          <p:pic>
            <p:nvPicPr>
              <p:cNvPr id="10" name="Szabadkéz 9">
                <a:extLst>
                  <a:ext uri="{FF2B5EF4-FFF2-40B4-BE49-F238E27FC236}">
                    <a16:creationId xmlns:a16="http://schemas.microsoft.com/office/drawing/2014/main" id="{D3F9B378-5008-45F4-B353-4A667CD4F47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711890" y="2744104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1030" name="Picture 6" descr="Download Silhouette Running Man.png | Wallpapers.com">
            <a:extLst>
              <a:ext uri="{FF2B5EF4-FFF2-40B4-BE49-F238E27FC236}">
                <a16:creationId xmlns:a16="http://schemas.microsoft.com/office/drawing/2014/main" id="{FF55147C-0842-4CA7-A0D6-74B08A4A0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628" y="675497"/>
            <a:ext cx="3394549" cy="6517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77921" y="1767332"/>
            <a:ext cx="1243013" cy="422553"/>
          </a:xfrm>
          <a:prstGeom prst="roundRect">
            <a:avLst>
              <a:gd name="adj" fmla="val 6388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</p:sp>
      <p:sp>
        <p:nvSpPr>
          <p:cNvPr id="4" name="Text 1"/>
          <p:cNvSpPr/>
          <p:nvPr/>
        </p:nvSpPr>
        <p:spPr>
          <a:xfrm>
            <a:off x="712819" y="1834722"/>
            <a:ext cx="973217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PROBLÉMA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77921" y="2279777"/>
            <a:ext cx="6815018" cy="702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Miért van szükség erre?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77921" y="3544936"/>
            <a:ext cx="3374231" cy="421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Papír alapú napló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577921" y="4191564"/>
            <a:ext cx="6253520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Könnyen elvész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577921" y="4630071"/>
            <a:ext cx="6253520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Nehéz áttekinteni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577921" y="5068578"/>
            <a:ext cx="6253520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Statisztika = kézi számolás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577921" y="5507086"/>
            <a:ext cx="6253520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Unalmas frissíteni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387939" y="3544936"/>
            <a:ext cx="3374231" cy="421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Digitális megoldás</a:t>
            </a:r>
            <a:endParaRPr lang="en-US" sz="2650" dirty="0"/>
          </a:p>
        </p:txBody>
      </p:sp>
      <p:sp>
        <p:nvSpPr>
          <p:cNvPr id="12" name="Text 9"/>
          <p:cNvSpPr/>
          <p:nvPr/>
        </p:nvSpPr>
        <p:spPr>
          <a:xfrm>
            <a:off x="7387939" y="4191564"/>
            <a:ext cx="6253520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Mindig elérhető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387939" y="4630071"/>
            <a:ext cx="6253520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Automatikus elemzés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387939" y="5068578"/>
            <a:ext cx="6253520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Gyors rögzítés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7387939" y="5507086"/>
            <a:ext cx="6253520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Motiváló</a:t>
            </a:r>
            <a:endParaRPr lang="en-US" sz="175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61386"/>
            <a:ext cx="2049066" cy="426244"/>
          </a:xfrm>
          <a:prstGeom prst="roundRect">
            <a:avLst>
              <a:gd name="adj" fmla="val 6386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878" y="1683782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629370"/>
            <a:ext cx="150471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ADATSTRUKTÚRA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07835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Mit tárolunk?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793790" y="3127296"/>
            <a:ext cx="6407944" cy="3540800"/>
          </a:xfrm>
          <a:prstGeom prst="roundRect">
            <a:avLst>
              <a:gd name="adj" fmla="val 961"/>
            </a:avLst>
          </a:prstGeom>
          <a:solidFill>
            <a:srgbClr val="DFFBE6"/>
          </a:solidFill>
          <a:ln/>
        </p:spPr>
      </p:sp>
      <p:sp>
        <p:nvSpPr>
          <p:cNvPr id="7" name="Shape 4"/>
          <p:cNvSpPr/>
          <p:nvPr/>
        </p:nvSpPr>
        <p:spPr>
          <a:xfrm>
            <a:off x="1020604" y="3354110"/>
            <a:ext cx="680442" cy="680442"/>
          </a:xfrm>
          <a:prstGeom prst="roundRect">
            <a:avLst>
              <a:gd name="adj" fmla="val 13436980"/>
            </a:avLst>
          </a:prstGeom>
          <a:solidFill>
            <a:schemeClr val="accent2">
              <a:lumMod val="75000"/>
            </a:schemeClr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7770" y="3541157"/>
            <a:ext cx="306110" cy="30611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0604" y="42613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Személyes adatok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20604" y="4751784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Testsúly (kg)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20604" y="5193983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Magasság (cm)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1020604" y="5636181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Nyugalmi pulzus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428548" y="3127296"/>
            <a:ext cx="6408063" cy="3540800"/>
          </a:xfrm>
          <a:prstGeom prst="roundRect">
            <a:avLst>
              <a:gd name="adj" fmla="val 961"/>
            </a:avLst>
          </a:prstGeom>
          <a:solidFill>
            <a:srgbClr val="DFFBE6"/>
          </a:solidFill>
          <a:ln/>
        </p:spPr>
      </p:sp>
      <p:sp>
        <p:nvSpPr>
          <p:cNvPr id="14" name="Shape 10"/>
          <p:cNvSpPr/>
          <p:nvPr/>
        </p:nvSpPr>
        <p:spPr>
          <a:xfrm>
            <a:off x="7655362" y="3354110"/>
            <a:ext cx="680442" cy="680442"/>
          </a:xfrm>
          <a:prstGeom prst="roundRect">
            <a:avLst>
              <a:gd name="adj" fmla="val 13436980"/>
            </a:avLst>
          </a:prstGeom>
          <a:solidFill>
            <a:schemeClr val="accent2">
              <a:lumMod val="75000"/>
            </a:schemeClr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2528" y="3541157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655362" y="42613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Edzés adatok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7655362" y="4751784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Távolság (km)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7655362" y="5193983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Időtartam (perc)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7655362" y="5636181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Max pulzus</a:t>
            </a:r>
            <a:endParaRPr lang="en-US" sz="1750" dirty="0"/>
          </a:p>
        </p:txBody>
      </p:sp>
      <p:sp>
        <p:nvSpPr>
          <p:cNvPr id="20" name="Text 15"/>
          <p:cNvSpPr/>
          <p:nvPr/>
        </p:nvSpPr>
        <p:spPr>
          <a:xfrm>
            <a:off x="7655362" y="6078379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Dátum</a:t>
            </a:r>
            <a:endParaRPr lang="en-US" sz="1750" dirty="0"/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 flipH="1">
            <a:off x="904174" y="1774626"/>
            <a:ext cx="1178013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87254" y="2192774"/>
            <a:ext cx="5185648" cy="648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Mit tud a program?</a:t>
            </a:r>
            <a:endParaRPr lang="en-US" sz="4050" dirty="0"/>
          </a:p>
        </p:txBody>
      </p:sp>
      <p:sp>
        <p:nvSpPr>
          <p:cNvPr id="6" name="Text 3"/>
          <p:cNvSpPr/>
          <p:nvPr/>
        </p:nvSpPr>
        <p:spPr>
          <a:xfrm>
            <a:off x="904174" y="3176762"/>
            <a:ext cx="207407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Tomorrow" panose="020B0604020202020204" charset="0"/>
                <a:ea typeface="Tomorrow Light" pitchFamily="34" charset="-122"/>
                <a:cs typeface="Tomorrow Light" pitchFamily="34" charset="-120"/>
              </a:rPr>
              <a:t>01</a:t>
            </a:r>
            <a:endParaRPr lang="en-US" sz="1600" dirty="0">
              <a:latin typeface="Tomorrow" panose="020B060402020202020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87254" y="3481506"/>
            <a:ext cx="6456164" cy="2286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</p:sp>
      <p:sp>
        <p:nvSpPr>
          <p:cNvPr id="8" name="Text 5"/>
          <p:cNvSpPr/>
          <p:nvPr/>
        </p:nvSpPr>
        <p:spPr>
          <a:xfrm>
            <a:off x="887254" y="3630930"/>
            <a:ext cx="3023734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hu-HU" sz="2000" dirty="0">
                <a:solidFill>
                  <a:srgbClr val="61615C"/>
                </a:solidFill>
                <a:latin typeface="Tomorrow Semi Bold" pitchFamily="34" charset="0"/>
              </a:rPr>
              <a:t>Több felhasználó felvitelét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87254" y="4079438"/>
            <a:ext cx="6456164" cy="331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hu-HU" sz="1600" dirty="0">
                <a:solidFill>
                  <a:srgbClr val="61615C"/>
                </a:solidFill>
                <a:latin typeface="Tomorrow" pitchFamily="34" charset="0"/>
              </a:rPr>
              <a:t>Akár több felhasználót is képes kezelni a program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50825" y="3151941"/>
            <a:ext cx="207407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Tomorrow" panose="020B0604020202020204" charset="0"/>
                <a:ea typeface="Tomorrow Light" pitchFamily="34" charset="-122"/>
                <a:cs typeface="Tomorrow Light" pitchFamily="34" charset="-120"/>
              </a:rPr>
              <a:t>02</a:t>
            </a:r>
            <a:endParaRPr lang="en-US" sz="1600" dirty="0">
              <a:latin typeface="Tomorrow" panose="020B060402020202020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550825" y="3481506"/>
            <a:ext cx="6456283" cy="2286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</p:sp>
      <p:sp>
        <p:nvSpPr>
          <p:cNvPr id="12" name="Text 9"/>
          <p:cNvSpPr/>
          <p:nvPr/>
        </p:nvSpPr>
        <p:spPr>
          <a:xfrm>
            <a:off x="7550825" y="3630930"/>
            <a:ext cx="3278756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 err="1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Adatok</a:t>
            </a: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</a:t>
            </a:r>
            <a:r>
              <a:rPr lang="hu-HU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megjelenítése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550825" y="4079438"/>
            <a:ext cx="6456283" cy="69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hu-HU" sz="1600" dirty="0">
                <a:solidFill>
                  <a:srgbClr val="61615C"/>
                </a:solidFill>
                <a:latin typeface="Tomorrow" pitchFamily="34" charset="0"/>
              </a:rPr>
              <a:t>Az edzések adatainak megjelenítése és az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hu-HU" sz="1600" dirty="0">
                <a:solidFill>
                  <a:srgbClr val="61615C"/>
                </a:solidFill>
                <a:latin typeface="Tomorrow" pitchFamily="34" charset="0"/>
              </a:rPr>
              <a:t> adatok </a:t>
            </a:r>
            <a:r>
              <a:rPr lang="hu-HU" sz="1600" dirty="0" err="1">
                <a:solidFill>
                  <a:srgbClr val="61615C"/>
                </a:solidFill>
                <a:latin typeface="Tomorrow" pitchFamily="34" charset="0"/>
              </a:rPr>
              <a:t>statisztikálása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87254" y="4774168"/>
            <a:ext cx="207407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Tomorrow" panose="020B0604020202020204" charset="0"/>
                <a:ea typeface="Tomorrow Light" pitchFamily="34" charset="-122"/>
                <a:cs typeface="Tomorrow Light" pitchFamily="34" charset="-120"/>
              </a:rPr>
              <a:t>03</a:t>
            </a:r>
            <a:endParaRPr lang="en-US" sz="1600" dirty="0">
              <a:latin typeface="Tomorrow" panose="020B060402020202020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87254" y="5103733"/>
            <a:ext cx="6456164" cy="2286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</p:sp>
      <p:sp>
        <p:nvSpPr>
          <p:cNvPr id="16" name="Text 13"/>
          <p:cNvSpPr/>
          <p:nvPr/>
        </p:nvSpPr>
        <p:spPr>
          <a:xfrm>
            <a:off x="887253" y="5253156"/>
            <a:ext cx="3541527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 err="1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Edzés</a:t>
            </a:r>
            <a:r>
              <a:rPr lang="en-US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</a:t>
            </a:r>
            <a:r>
              <a:rPr lang="en-US" sz="2000" dirty="0" err="1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törlése</a:t>
            </a:r>
            <a:r>
              <a:rPr lang="hu-HU" sz="20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és módosítása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87254" y="5701665"/>
            <a:ext cx="6456164" cy="331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Hibás </a:t>
            </a:r>
            <a:r>
              <a:rPr lang="en-US" sz="1600" dirty="0" err="1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bejegyzések</a:t>
            </a:r>
            <a:r>
              <a:rPr lang="en-US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r>
              <a:rPr lang="en-US" sz="1600" dirty="0" err="1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eltávolítása</a:t>
            </a:r>
            <a:r>
              <a:rPr lang="hu-HU" sz="1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vagy módosítása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550825" y="4774168"/>
            <a:ext cx="207407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61615C"/>
                </a:solidFill>
                <a:latin typeface="Tomorrow" panose="020B0604020202020204" charset="0"/>
                <a:ea typeface="Tomorrow Light" pitchFamily="34" charset="-122"/>
                <a:cs typeface="Tomorrow Light" pitchFamily="34" charset="-120"/>
              </a:rPr>
              <a:t>04</a:t>
            </a:r>
            <a:endParaRPr lang="en-US" sz="1600" dirty="0">
              <a:latin typeface="Tomorrow" panose="020B060402020202020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550825" y="5103733"/>
            <a:ext cx="6456283" cy="2286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</p:sp>
      <p:sp>
        <p:nvSpPr>
          <p:cNvPr id="20" name="Text 17"/>
          <p:cNvSpPr/>
          <p:nvPr/>
        </p:nvSpPr>
        <p:spPr>
          <a:xfrm>
            <a:off x="7550825" y="5253156"/>
            <a:ext cx="2592824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hu-HU" sz="2000" dirty="0" err="1">
                <a:solidFill>
                  <a:srgbClr val="61615C"/>
                </a:solidFill>
                <a:latin typeface="Tomorrow Semi Bold" pitchFamily="34" charset="0"/>
              </a:rPr>
              <a:t>Admin</a:t>
            </a:r>
            <a:r>
              <a:rPr lang="hu-HU" sz="2000" dirty="0">
                <a:solidFill>
                  <a:srgbClr val="61615C"/>
                </a:solidFill>
                <a:latin typeface="Tomorrow Semi Bold" pitchFamily="34" charset="0"/>
              </a:rPr>
              <a:t> funkció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550825" y="5701665"/>
            <a:ext cx="6456283" cy="1161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hu-HU" sz="1600" dirty="0">
                <a:solidFill>
                  <a:srgbClr val="61615C"/>
                </a:solidFill>
                <a:latin typeface="Tomorrow" pitchFamily="34" charset="0"/>
              </a:rPr>
              <a:t>Az </a:t>
            </a:r>
            <a:r>
              <a:rPr lang="hu-HU" sz="1600" dirty="0" err="1">
                <a:solidFill>
                  <a:srgbClr val="61615C"/>
                </a:solidFill>
                <a:latin typeface="Tomorrow" pitchFamily="34" charset="0"/>
              </a:rPr>
              <a:t>Admin</a:t>
            </a:r>
            <a:r>
              <a:rPr lang="hu-HU" sz="1600" dirty="0">
                <a:solidFill>
                  <a:srgbClr val="61615C"/>
                </a:solidFill>
                <a:latin typeface="Tomorrow" pitchFamily="34" charset="0"/>
              </a:rPr>
              <a:t> megtudja változtatni a jelszavakat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hu-HU" sz="1600" dirty="0">
                <a:solidFill>
                  <a:srgbClr val="61615C"/>
                </a:solidFill>
                <a:latin typeface="Tomorrow" pitchFamily="34" charset="0"/>
              </a:rPr>
              <a:t> és felhasználó neveket</a:t>
            </a:r>
            <a:endParaRPr lang="en-US" sz="160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473457" y="1516380"/>
            <a:ext cx="1262182" cy="317183"/>
          </a:xfrm>
          <a:prstGeom prst="roundRect">
            <a:avLst>
              <a:gd name="adj" fmla="val 6383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</p:sp>
      <p:sp>
        <p:nvSpPr>
          <p:cNvPr id="4" name="Text 1"/>
          <p:cNvSpPr/>
          <p:nvPr/>
        </p:nvSpPr>
        <p:spPr>
          <a:xfrm>
            <a:off x="1574660" y="1566981"/>
            <a:ext cx="1059775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ALGORITMUSOK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473457" y="1900951"/>
            <a:ext cx="4869180" cy="527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Intelligens számítások</a:t>
            </a:r>
            <a:endParaRPr lang="en-US" sz="3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457" y="2681168"/>
            <a:ext cx="843558" cy="13431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485727" y="2849880"/>
            <a:ext cx="2108835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Cél elérése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2485727" y="3214568"/>
            <a:ext cx="9658945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5 km teljesítve?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3457" y="4024312"/>
            <a:ext cx="843558" cy="13431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485727" y="4193024"/>
            <a:ext cx="2108835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Összesítés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2485727" y="4557712"/>
            <a:ext cx="9658945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Összes megtett táv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3457" y="5367456"/>
            <a:ext cx="843558" cy="13431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485727" y="5536168"/>
            <a:ext cx="2108835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Idő konverzió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2485727" y="5900856"/>
            <a:ext cx="9658945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Másodperc → óra:perc:mp</a:t>
            </a:r>
            <a:endParaRPr lang="en-US" sz="1300" dirty="0"/>
          </a:p>
        </p:txBody>
      </p:sp>
    </p:spTree>
  </p:cSld>
  <p:clrMapOvr>
    <a:masterClrMapping/>
  </p:clrMapOvr>
  <p:transition spd="slow">
    <p:push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793790" y="2197075"/>
            <a:ext cx="61273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Felhasznált eszközök</a:t>
            </a:r>
            <a:endParaRPr lang="en-US" sz="4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246016"/>
            <a:ext cx="680442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57720" y="34373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hu-HU" sz="2200" dirty="0">
                <a:solidFill>
                  <a:srgbClr val="61615C"/>
                </a:solidFill>
                <a:latin typeface="Tomorrow Semi Bold" pitchFamily="34" charset="0"/>
              </a:rPr>
              <a:t>MVC modell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757720" y="3927767"/>
            <a:ext cx="541567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hu-HU" sz="1750" dirty="0" err="1">
                <a:solidFill>
                  <a:srgbClr val="61615C"/>
                </a:solidFill>
                <a:latin typeface="Tomorrow" pitchFamily="34" charset="0"/>
              </a:rPr>
              <a:t>Models</a:t>
            </a:r>
            <a:r>
              <a:rPr lang="hu-HU" sz="1750" dirty="0">
                <a:solidFill>
                  <a:srgbClr val="61615C"/>
                </a:solidFill>
                <a:latin typeface="Tomorrow" pitchFamily="34" charset="0"/>
              </a:rPr>
              <a:t>, </a:t>
            </a:r>
            <a:r>
              <a:rPr lang="hu-HU" sz="1750" dirty="0" err="1">
                <a:solidFill>
                  <a:srgbClr val="61615C"/>
                </a:solidFill>
                <a:latin typeface="Tomorrow" pitchFamily="34" charset="0"/>
              </a:rPr>
              <a:t>View</a:t>
            </a:r>
            <a:r>
              <a:rPr lang="hu-HU" sz="1750" dirty="0">
                <a:solidFill>
                  <a:srgbClr val="61615C"/>
                </a:solidFill>
                <a:latin typeface="Tomorrow" pitchFamily="34" charset="0"/>
              </a:rPr>
              <a:t>, </a:t>
            </a:r>
            <a:r>
              <a:rPr lang="hu-HU" sz="1750" dirty="0" err="1">
                <a:solidFill>
                  <a:srgbClr val="61615C"/>
                </a:solidFill>
                <a:latin typeface="Tomorrow" pitchFamily="34" charset="0"/>
              </a:rPr>
              <a:t>Controller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6884" y="3246016"/>
            <a:ext cx="680442" cy="680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420814" y="34373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hu-HU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.NET Framework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420814" y="3927767"/>
            <a:ext cx="541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hu-HU" sz="1750" dirty="0" err="1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Consolos</a:t>
            </a:r>
            <a:r>
              <a:rPr lang="hu-HU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e</a:t>
            </a:r>
            <a:r>
              <a:rPr lang="en-US" sz="1750" dirty="0" err="1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gyszerű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r>
              <a:rPr lang="en-US" sz="1750" dirty="0" err="1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szöveges</a:t>
            </a: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r>
              <a:rPr lang="en-US" sz="1750" dirty="0" err="1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felület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772576"/>
            <a:ext cx="680442" cy="6804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757720" y="49356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List&lt;&gt;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757720" y="5426050"/>
            <a:ext cx="541567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hu-HU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Adatok tárolása listában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56884" y="4744298"/>
            <a:ext cx="680442" cy="68044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420814" y="49356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1615C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Osztályok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8420814" y="5426050"/>
            <a:ext cx="541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Edzés + Futó modellek</a:t>
            </a:r>
            <a:endParaRPr lang="en-US" sz="1750" dirty="0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1" y="148155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 err="1">
                <a:solidFill>
                  <a:srgbClr val="1D1D1B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Összegzés</a:t>
            </a:r>
            <a:endParaRPr lang="en-US" sz="4450" b="1" dirty="0"/>
          </a:p>
        </p:txBody>
      </p:sp>
      <p:sp>
        <p:nvSpPr>
          <p:cNvPr id="4" name="Shape 1"/>
          <p:cNvSpPr/>
          <p:nvPr/>
        </p:nvSpPr>
        <p:spPr>
          <a:xfrm>
            <a:off x="6280191" y="3156641"/>
            <a:ext cx="5670590" cy="2191345"/>
          </a:xfrm>
          <a:prstGeom prst="roundRect">
            <a:avLst>
              <a:gd name="adj" fmla="val 1553"/>
            </a:avLst>
          </a:prstGeom>
          <a:solidFill>
            <a:schemeClr val="accent2">
              <a:lumMod val="75000"/>
            </a:schemeClr>
          </a:solidFill>
          <a:ln/>
        </p:spPr>
        <p:txBody>
          <a:bodyPr/>
          <a:lstStyle/>
          <a:p>
            <a:endParaRPr lang="hu-HU" dirty="0"/>
          </a:p>
        </p:txBody>
      </p:sp>
      <p:sp>
        <p:nvSpPr>
          <p:cNvPr id="5" name="Text 2"/>
          <p:cNvSpPr/>
          <p:nvPr/>
        </p:nvSpPr>
        <p:spPr>
          <a:xfrm>
            <a:off x="6507004" y="3383455"/>
            <a:ext cx="31196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Működő alkalmazás ✓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3873874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Adatok tárolása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507004" y="4316072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hu-HU" sz="17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MVC</a:t>
            </a:r>
            <a:r>
              <a:rPr lang="en-US" sz="17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r>
              <a:rPr lang="hu-HU" sz="17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rendezés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507004" y="4758270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Statisztikák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5848469" y="6435482"/>
            <a:ext cx="7556421" cy="1430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4800" b="1" dirty="0">
                <a:latin typeface="Tomorrow" pitchFamily="34" charset="0"/>
                <a:ea typeface="Tomorrow" pitchFamily="34" charset="-122"/>
                <a:cs typeface="Tomorrow" pitchFamily="34" charset="-120"/>
              </a:rPr>
              <a:t>Köszönöm a figyelmet!</a:t>
            </a:r>
            <a:endParaRPr lang="en-US" sz="4800" dirty="0"/>
          </a:p>
        </p:txBody>
      </p:sp>
      <p:pic>
        <p:nvPicPr>
          <p:cNvPr id="17" name="Kép 16">
            <a:extLst>
              <a:ext uri="{FF2B5EF4-FFF2-40B4-BE49-F238E27FC236}">
                <a16:creationId xmlns:a16="http://schemas.microsoft.com/office/drawing/2014/main" id="{241F8BAF-E9FE-44B9-A724-38457749E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76284" cy="82547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menzió">
  <a:themeElements>
    <a:clrScheme name="Dimenzió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Dimenzió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menzió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183</Words>
  <Application>Microsoft Office PowerPoint</Application>
  <PresentationFormat>Egyéni</PresentationFormat>
  <Paragraphs>70</Paragraphs>
  <Slides>7</Slides>
  <Notes>7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5" baseType="lpstr">
      <vt:lpstr>Tomorrow Light</vt:lpstr>
      <vt:lpstr>Calibri</vt:lpstr>
      <vt:lpstr>Arial</vt:lpstr>
      <vt:lpstr>Tomorrow</vt:lpstr>
      <vt:lpstr>Trebuchet MS</vt:lpstr>
      <vt:lpstr>Tomorrow Semi Bold</vt:lpstr>
      <vt:lpstr>Wingdings 3</vt:lpstr>
      <vt:lpstr>Dimenzió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Bálint</dc:creator>
  <cp:lastModifiedBy>Szilágyi Bálint</cp:lastModifiedBy>
  <cp:revision>14</cp:revision>
  <dcterms:created xsi:type="dcterms:W3CDTF">2026-01-21T19:01:34Z</dcterms:created>
  <dcterms:modified xsi:type="dcterms:W3CDTF">2026-01-22T08:23:38Z</dcterms:modified>
</cp:coreProperties>
</file>