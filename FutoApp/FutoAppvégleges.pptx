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7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4630400" cy="8229600"/>
  <p:notesSz cx="8229600" cy="146304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Tomorrow" panose="020B0604020202020204" charset="0"/>
      <p:regular r:id="rId14"/>
    </p:embeddedFont>
    <p:embeddedFont>
      <p:font typeface="Tomorrow Semi Bold" panose="020B0604020202020204" charset="0"/>
      <p:regular r:id="rId15"/>
    </p:embeddedFont>
    <p:embeddedFont>
      <p:font typeface="Trebuchet MS" panose="020B0603020202020204" pitchFamily="34" charset="0"/>
      <p:regular r:id="rId16"/>
      <p:bold r:id="rId17"/>
      <p:italic r:id="rId18"/>
      <p:boldItalic r:id="rId19"/>
    </p:embeddedFont>
    <p:embeddedFont>
      <p:font typeface="Wingdings 3" panose="05040102010807070707" pitchFamily="18" charset="2"/>
      <p:regular r:id="rId2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EA62"/>
    <a:srgbClr val="DFFB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3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theme" Target="theme/theme1.xml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21T19:07:44.161"/>
    </inkml:context>
    <inkml:brush xml:id="br0">
      <inkml:brushProperty name="width" value="0.35" units="cm"/>
      <inkml:brushProperty name="height" value="0.35" units="cm"/>
      <inkml:brushProperty name="color" value="#FFFFFF"/>
      <inkml:brushProperty name="ignorePressure" value="1"/>
    </inkml:brush>
  </inkml:definitions>
  <inkml:trace contextRef="#ctx0" brushRef="#br0">1 1,'0'0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21T19:07:50.190"/>
    </inkml:context>
    <inkml:brush xml:id="br0">
      <inkml:brushProperty name="width" value="0.35" units="cm"/>
      <inkml:brushProperty name="height" value="0.35" units="cm"/>
      <inkml:brushProperty name="color" value="#FFFFFF"/>
      <inkml:brushProperty name="ignorePressure" value="1"/>
    </inkml:brush>
  </inkml:definitions>
  <inkml:trace contextRef="#ctx0" brushRef="#br0">1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1-21T19:17:50.383"/>
    </inkml:context>
    <inkml:brush xml:id="br0">
      <inkml:brushProperty name="width" value="0.35" units="cm"/>
      <inkml:brushProperty name="height" value="0.35" units="cm"/>
      <inkml:brushProperty name="color" value="#FFFFFF"/>
      <inkml:brushProperty name="ignorePressure" value="1"/>
    </inkml:brush>
  </inkml:definitions>
  <inkml:trace contextRef="#ctx0" brushRef="#br0">1 1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98165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10160"/>
            <a:ext cx="14630400" cy="823976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08481" y="2885441"/>
            <a:ext cx="9320323" cy="1975562"/>
          </a:xfrm>
        </p:spPr>
        <p:txBody>
          <a:bodyPr anchor="b">
            <a:noAutofit/>
          </a:bodyPr>
          <a:lstStyle>
            <a:lvl1pPr algn="r">
              <a:defRPr sz="6480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08481" y="4861000"/>
            <a:ext cx="9320323" cy="131627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548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972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45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918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84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0909346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32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608721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2" y="3241041"/>
            <a:ext cx="10316002" cy="2191897"/>
          </a:xfrm>
        </p:spPr>
        <p:txBody>
          <a:bodyPr anchor="b"/>
          <a:lstStyle>
            <a:lvl1pPr algn="l">
              <a:defRPr sz="48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2802" y="5432938"/>
            <a:ext cx="10316002" cy="1032480"/>
          </a:xfrm>
        </p:spPr>
        <p:txBody>
          <a:bodyPr anchor="t"/>
          <a:lstStyle>
            <a:lvl1pPr marL="0" indent="0" algn="l"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54864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34422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1" y="2592707"/>
            <a:ext cx="5020842" cy="4656926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07964" y="2592707"/>
            <a:ext cx="5020841" cy="465692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712558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894" y="2593180"/>
            <a:ext cx="5022748" cy="691514"/>
          </a:xfrm>
        </p:spPr>
        <p:txBody>
          <a:bodyPr anchor="b">
            <a:noAutofit/>
          </a:bodyPr>
          <a:lstStyle>
            <a:lvl1pPr marL="0" indent="0">
              <a:buNone/>
              <a:defRPr sz="2880" b="0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0894" y="3284695"/>
            <a:ext cx="5022748" cy="3964940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06059" y="2593180"/>
            <a:ext cx="5022742" cy="691514"/>
          </a:xfrm>
        </p:spPr>
        <p:txBody>
          <a:bodyPr anchor="b">
            <a:noAutofit/>
          </a:bodyPr>
          <a:lstStyle>
            <a:lvl1pPr marL="0" indent="0">
              <a:buNone/>
              <a:defRPr sz="2880" b="0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06062" y="3284695"/>
            <a:ext cx="5022740" cy="3964940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580325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1" y="731520"/>
            <a:ext cx="10316002" cy="158496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985361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24480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1" y="1798325"/>
            <a:ext cx="4625434" cy="1534159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2554" y="617910"/>
            <a:ext cx="5416249" cy="6631724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2801" y="3332483"/>
            <a:ext cx="4625434" cy="3101339"/>
          </a:xfrm>
        </p:spPr>
        <p:txBody>
          <a:bodyPr>
            <a:normAutofit/>
          </a:bodyPr>
          <a:lstStyle>
            <a:lvl1pPr marL="0" indent="0">
              <a:buNone/>
              <a:defRPr sz="1680"/>
            </a:lvl1pPr>
            <a:lvl2pPr marL="548476" indent="0">
              <a:buNone/>
              <a:defRPr sz="1680"/>
            </a:lvl2pPr>
            <a:lvl3pPr marL="1096951" indent="0">
              <a:buNone/>
              <a:defRPr sz="1440"/>
            </a:lvl3pPr>
            <a:lvl4pPr marL="1645427" indent="0">
              <a:buNone/>
              <a:defRPr sz="1200"/>
            </a:lvl4pPr>
            <a:lvl5pPr marL="2193901" indent="0">
              <a:buNone/>
              <a:defRPr sz="1200"/>
            </a:lvl5pPr>
            <a:lvl6pPr marL="2742377" indent="0">
              <a:buNone/>
              <a:defRPr sz="1200"/>
            </a:lvl6pPr>
            <a:lvl7pPr marL="3290852" indent="0">
              <a:buNone/>
              <a:defRPr sz="1200"/>
            </a:lvl7pPr>
            <a:lvl8pPr marL="3839328" indent="0">
              <a:buNone/>
              <a:defRPr sz="1200"/>
            </a:lvl8pPr>
            <a:lvl9pPr marL="4387804" indent="0">
              <a:buNone/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5070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2" y="5760720"/>
            <a:ext cx="10316000" cy="680086"/>
          </a:xfrm>
        </p:spPr>
        <p:txBody>
          <a:bodyPr anchor="b">
            <a:normAutofit/>
          </a:bodyPr>
          <a:lstStyle>
            <a:lvl1pPr algn="l">
              <a:defRPr sz="288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801" y="731520"/>
            <a:ext cx="10316002" cy="4614862"/>
          </a:xfrm>
        </p:spPr>
        <p:txBody>
          <a:bodyPr anchor="t">
            <a:normAutofit/>
          </a:bodyPr>
          <a:lstStyle>
            <a:lvl1pPr marL="0" indent="0" algn="ctr">
              <a:buNone/>
              <a:defRPr sz="1920"/>
            </a:lvl1pPr>
            <a:lvl2pPr marL="548640" indent="0">
              <a:buNone/>
              <a:defRPr sz="1920"/>
            </a:lvl2pPr>
            <a:lvl3pPr marL="1097280" indent="0">
              <a:buNone/>
              <a:defRPr sz="1920"/>
            </a:lvl3pPr>
            <a:lvl4pPr marL="1645920" indent="0">
              <a:buNone/>
              <a:defRPr sz="1920"/>
            </a:lvl4pPr>
            <a:lvl5pPr marL="2194560" indent="0">
              <a:buNone/>
              <a:defRPr sz="1920"/>
            </a:lvl5pPr>
            <a:lvl6pPr marL="2743200" indent="0">
              <a:buNone/>
              <a:defRPr sz="1920"/>
            </a:lvl6pPr>
            <a:lvl7pPr marL="3291840" indent="0">
              <a:buNone/>
              <a:defRPr sz="1920"/>
            </a:lvl7pPr>
            <a:lvl8pPr marL="3840480" indent="0">
              <a:buNone/>
              <a:defRPr sz="1920"/>
            </a:lvl8pPr>
            <a:lvl9pPr marL="4389120" indent="0">
              <a:buNone/>
              <a:defRPr sz="192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2802" y="6440806"/>
            <a:ext cx="10316000" cy="808829"/>
          </a:xfrm>
        </p:spPr>
        <p:txBody>
          <a:bodyPr>
            <a:normAutofit/>
          </a:bodyPr>
          <a:lstStyle>
            <a:lvl1pPr marL="0" indent="0">
              <a:buNone/>
              <a:defRPr sz="144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230286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2" y="731520"/>
            <a:ext cx="10316002" cy="4084320"/>
          </a:xfrm>
        </p:spPr>
        <p:txBody>
          <a:bodyPr anchor="ctr">
            <a:normAutofit/>
          </a:bodyPr>
          <a:lstStyle>
            <a:lvl1pPr algn="l">
              <a:defRPr sz="528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2802" y="5364480"/>
            <a:ext cx="10316002" cy="1885154"/>
          </a:xfrm>
        </p:spPr>
        <p:txBody>
          <a:bodyPr anchor="ctr">
            <a:normAutofit/>
          </a:bodyPr>
          <a:lstStyle>
            <a:lvl1pPr marL="0" indent="0" algn="l">
              <a:buNone/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54864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071890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7601" y="731520"/>
            <a:ext cx="9712961" cy="3627120"/>
          </a:xfrm>
        </p:spPr>
        <p:txBody>
          <a:bodyPr anchor="ctr">
            <a:normAutofit/>
          </a:bodyPr>
          <a:lstStyle>
            <a:lvl1pPr algn="l">
              <a:defRPr sz="528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39367" y="4358640"/>
            <a:ext cx="8669429" cy="4572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92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548640" indent="0">
              <a:buFontTx/>
              <a:buNone/>
              <a:defRPr/>
            </a:lvl2pPr>
            <a:lvl3pPr marL="1097280" indent="0">
              <a:buFontTx/>
              <a:buNone/>
              <a:defRPr/>
            </a:lvl3pPr>
            <a:lvl4pPr marL="1645920" indent="0">
              <a:buFontTx/>
              <a:buNone/>
              <a:defRPr/>
            </a:lvl4pPr>
            <a:lvl5pPr marL="219456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2802" y="5364480"/>
            <a:ext cx="10316002" cy="1885154"/>
          </a:xfrm>
        </p:spPr>
        <p:txBody>
          <a:bodyPr anchor="ctr">
            <a:normAutofit/>
          </a:bodyPr>
          <a:lstStyle>
            <a:lvl1pPr marL="0" indent="0" algn="l">
              <a:buNone/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54864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650244" y="948454"/>
            <a:ext cx="731520" cy="701731"/>
          </a:xfrm>
          <a:prstGeom prst="rect">
            <a:avLst/>
          </a:prstGeom>
        </p:spPr>
        <p:txBody>
          <a:bodyPr vert="horz" lIns="109728" tIns="54864" rIns="109728" bIns="54864" rtlCol="0" anchor="ctr">
            <a:noAutofit/>
          </a:bodyPr>
          <a:lstStyle/>
          <a:p>
            <a:pPr lvl="0"/>
            <a:r>
              <a:rPr lang="en-US" sz="96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71613" y="3463867"/>
            <a:ext cx="731520" cy="701731"/>
          </a:xfrm>
          <a:prstGeom prst="rect">
            <a:avLst/>
          </a:prstGeom>
        </p:spPr>
        <p:txBody>
          <a:bodyPr vert="horz" lIns="109728" tIns="54864" rIns="109728" bIns="54864" rtlCol="0" anchor="ctr">
            <a:noAutofit/>
          </a:bodyPr>
          <a:lstStyle/>
          <a:p>
            <a:pPr lvl="0"/>
            <a:r>
              <a:rPr lang="en-US" sz="96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216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1820978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802" y="2318386"/>
            <a:ext cx="10316002" cy="3114552"/>
          </a:xfrm>
        </p:spPr>
        <p:txBody>
          <a:bodyPr anchor="b">
            <a:normAutofit/>
          </a:bodyPr>
          <a:lstStyle>
            <a:lvl1pPr algn="l">
              <a:defRPr sz="528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2802" y="5432938"/>
            <a:ext cx="10316002" cy="1816697"/>
          </a:xfrm>
        </p:spPr>
        <p:txBody>
          <a:bodyPr anchor="t">
            <a:normAutofit/>
          </a:bodyPr>
          <a:lstStyle>
            <a:lvl1pPr marL="0" indent="0" algn="l">
              <a:buNone/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54864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4242332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17601" y="731520"/>
            <a:ext cx="9712961" cy="3627120"/>
          </a:xfrm>
        </p:spPr>
        <p:txBody>
          <a:bodyPr anchor="ctr">
            <a:normAutofit/>
          </a:bodyPr>
          <a:lstStyle>
            <a:lvl1pPr algn="l">
              <a:defRPr sz="528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812799" y="4815840"/>
            <a:ext cx="10316003" cy="61709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88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548640" indent="0">
              <a:buFontTx/>
              <a:buNone/>
              <a:defRPr/>
            </a:lvl2pPr>
            <a:lvl3pPr marL="1097280" indent="0">
              <a:buFontTx/>
              <a:buNone/>
              <a:defRPr/>
            </a:lvl3pPr>
            <a:lvl4pPr marL="1645920" indent="0">
              <a:buFontTx/>
              <a:buNone/>
              <a:defRPr/>
            </a:lvl4pPr>
            <a:lvl5pPr marL="219456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2802" y="5432938"/>
            <a:ext cx="10316002" cy="1816697"/>
          </a:xfrm>
        </p:spPr>
        <p:txBody>
          <a:bodyPr anchor="t">
            <a:normAutofit/>
          </a:bodyPr>
          <a:lstStyle>
            <a:lvl1pPr marL="0" indent="0" algn="l">
              <a:buNone/>
              <a:defRPr sz="216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54864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650244" y="948454"/>
            <a:ext cx="731520" cy="701731"/>
          </a:xfrm>
          <a:prstGeom prst="rect">
            <a:avLst/>
          </a:prstGeom>
        </p:spPr>
        <p:txBody>
          <a:bodyPr vert="horz" lIns="109728" tIns="54864" rIns="109728" bIns="54864" rtlCol="0" anchor="ctr">
            <a:noAutofit/>
          </a:bodyPr>
          <a:lstStyle/>
          <a:p>
            <a:pPr lvl="0"/>
            <a:r>
              <a:rPr lang="en-US" sz="96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71613" y="3463867"/>
            <a:ext cx="731520" cy="701731"/>
          </a:xfrm>
          <a:prstGeom prst="rect">
            <a:avLst/>
          </a:prstGeom>
        </p:spPr>
        <p:txBody>
          <a:bodyPr vert="horz" lIns="109728" tIns="54864" rIns="109728" bIns="54864" rtlCol="0" anchor="ctr">
            <a:noAutofit/>
          </a:bodyPr>
          <a:lstStyle/>
          <a:p>
            <a:pPr lvl="0"/>
            <a:r>
              <a:rPr lang="en-US" sz="96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10340265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59" y="731520"/>
            <a:ext cx="10305844" cy="3627120"/>
          </a:xfrm>
        </p:spPr>
        <p:txBody>
          <a:bodyPr anchor="ctr">
            <a:normAutofit/>
          </a:bodyPr>
          <a:lstStyle>
            <a:lvl1pPr algn="l">
              <a:defRPr sz="528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812799" y="4815840"/>
            <a:ext cx="10316003" cy="61709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880">
                <a:solidFill>
                  <a:schemeClr val="accent1"/>
                </a:solidFill>
              </a:defRPr>
            </a:lvl1pPr>
            <a:lvl2pPr marL="548640" indent="0">
              <a:buFontTx/>
              <a:buNone/>
              <a:defRPr/>
            </a:lvl2pPr>
            <a:lvl3pPr marL="1097280" indent="0">
              <a:buFontTx/>
              <a:buNone/>
              <a:defRPr/>
            </a:lvl3pPr>
            <a:lvl4pPr marL="1645920" indent="0">
              <a:buFontTx/>
              <a:buNone/>
              <a:defRPr/>
            </a:lvl4pPr>
            <a:lvl5pPr marL="219456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2802" y="5432938"/>
            <a:ext cx="10316002" cy="1816697"/>
          </a:xfrm>
        </p:spPr>
        <p:txBody>
          <a:bodyPr anchor="t">
            <a:normAutofit/>
          </a:bodyPr>
          <a:lstStyle>
            <a:lvl1pPr marL="0" indent="0" algn="l">
              <a:buNone/>
              <a:defRPr sz="216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54864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9650147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0594200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61208" y="731520"/>
            <a:ext cx="1565692" cy="6301741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2" y="731520"/>
            <a:ext cx="8472180" cy="630174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0911489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40421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314889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088116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8425041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3638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68063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4862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10160"/>
            <a:ext cx="14630400" cy="823976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1" y="731520"/>
            <a:ext cx="10316002" cy="15849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2801" y="2592707"/>
            <a:ext cx="10316002" cy="46569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46160" y="7249635"/>
            <a:ext cx="1094327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12801" y="7249635"/>
            <a:ext cx="7557134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08796" y="7249635"/>
            <a:ext cx="820007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5792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  <p:sldLayoutId id="2147483671" r:id="rId14"/>
    <p:sldLayoutId id="2147483672" r:id="rId15"/>
    <p:sldLayoutId id="2147483673" r:id="rId16"/>
    <p:sldLayoutId id="2147483674" r:id="rId17"/>
    <p:sldLayoutId id="2147483675" r:id="rId18"/>
    <p:sldLayoutId id="2147483676" r:id="rId19"/>
    <p:sldLayoutId id="2147483677" r:id="rId20"/>
    <p:sldLayoutId id="2147483678" r:id="rId21"/>
    <p:sldLayoutId id="2147483679" r:id="rId22"/>
    <p:sldLayoutId id="2147483680" r:id="rId23"/>
  </p:sldLayoutIdLst>
  <p:hf sldNum="0" hdr="0" ftr="0" dt="0"/>
  <p:txStyles>
    <p:titleStyle>
      <a:lvl1pPr algn="l" defTabSz="548640" rtl="0" eaLnBrk="1" latinLnBrk="0" hangingPunct="1">
        <a:spcBef>
          <a:spcPct val="0"/>
        </a:spcBef>
        <a:buNone/>
        <a:defRPr sz="432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411480" indent="-411480" algn="l" defTabSz="548640" rtl="0" eaLnBrk="1" latinLnBrk="0" hangingPunct="1">
        <a:spcBef>
          <a:spcPts val="12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16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891540" indent="-342900" algn="l" defTabSz="548640" rtl="0" eaLnBrk="1" latinLnBrk="0" hangingPunct="1">
        <a:spcBef>
          <a:spcPts val="12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9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371600" indent="-274320" algn="l" defTabSz="548640" rtl="0" eaLnBrk="1" latinLnBrk="0" hangingPunct="1">
        <a:spcBef>
          <a:spcPts val="12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920240" indent="-274320" algn="l" defTabSz="548640" rtl="0" eaLnBrk="1" latinLnBrk="0" hangingPunct="1">
        <a:spcBef>
          <a:spcPts val="12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468880" indent="-274320" algn="l" defTabSz="548640" rtl="0" eaLnBrk="1" latinLnBrk="0" hangingPunct="1">
        <a:spcBef>
          <a:spcPts val="12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3017520" indent="-274320" algn="l" defTabSz="548640" rtl="0" eaLnBrk="1" latinLnBrk="0" hangingPunct="1">
        <a:spcBef>
          <a:spcPts val="12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3566160" indent="-274320" algn="l" defTabSz="548640" rtl="0" eaLnBrk="1" latinLnBrk="0" hangingPunct="1">
        <a:spcBef>
          <a:spcPts val="12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4114800" indent="-274320" algn="l" defTabSz="548640" rtl="0" eaLnBrk="1" latinLnBrk="0" hangingPunct="1">
        <a:spcBef>
          <a:spcPts val="12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4663440" indent="-274320" algn="l" defTabSz="548640" rtl="0" eaLnBrk="1" latinLnBrk="0" hangingPunct="1">
        <a:spcBef>
          <a:spcPts val="12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customXml" Target="../ink/ink1.xm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Relationship Id="rId10" Type="http://schemas.openxmlformats.org/officeDocument/2006/relationships/image" Target="../media/image1.png"/><Relationship Id="rId9" Type="http://schemas.openxmlformats.org/officeDocument/2006/relationships/customXml" Target="../ink/ink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2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698818" y="3076384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D1D1B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FutóApp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5698818" y="4125325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C# Edzésnapló Projekt</a:t>
            </a:r>
            <a:endParaRPr lang="en-US" sz="175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Szabadkéz 5">
                <a:extLst>
                  <a:ext uri="{FF2B5EF4-FFF2-40B4-BE49-F238E27FC236}">
                    <a16:creationId xmlns:a16="http://schemas.microsoft.com/office/drawing/2014/main" id="{4C5D5204-018F-4377-B846-86C31B2B645A}"/>
                  </a:ext>
                </a:extLst>
              </p14:cNvPr>
              <p14:cNvContentPartPr/>
              <p14:nvPr/>
            </p14:nvContentPartPr>
            <p14:xfrm>
              <a:off x="10001330" y="3076024"/>
              <a:ext cx="360" cy="360"/>
            </p14:xfrm>
          </p:contentPart>
        </mc:Choice>
        <mc:Fallback xmlns="">
          <p:pic>
            <p:nvPicPr>
              <p:cNvPr id="6" name="Szabadkéz 5">
                <a:extLst>
                  <a:ext uri="{FF2B5EF4-FFF2-40B4-BE49-F238E27FC236}">
                    <a16:creationId xmlns:a16="http://schemas.microsoft.com/office/drawing/2014/main" id="{4C5D5204-018F-4377-B846-86C31B2B645A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938690" y="3013384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Szabadkéz 6">
                <a:extLst>
                  <a:ext uri="{FF2B5EF4-FFF2-40B4-BE49-F238E27FC236}">
                    <a16:creationId xmlns:a16="http://schemas.microsoft.com/office/drawing/2014/main" id="{AE1CB245-A096-4CDB-A21E-7BEADD350916}"/>
                  </a:ext>
                </a:extLst>
              </p14:cNvPr>
              <p14:cNvContentPartPr/>
              <p14:nvPr/>
            </p14:nvContentPartPr>
            <p14:xfrm>
              <a:off x="7421210" y="1459984"/>
              <a:ext cx="360" cy="360"/>
            </p14:xfrm>
          </p:contentPart>
        </mc:Choice>
        <mc:Fallback xmlns="">
          <p:pic>
            <p:nvPicPr>
              <p:cNvPr id="7" name="Szabadkéz 6">
                <a:extLst>
                  <a:ext uri="{FF2B5EF4-FFF2-40B4-BE49-F238E27FC236}">
                    <a16:creationId xmlns:a16="http://schemas.microsoft.com/office/drawing/2014/main" id="{AE1CB245-A096-4CDB-A21E-7BEADD35091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58570" y="1397344"/>
                <a:ext cx="126000" cy="12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0" name="Szabadkéz 9">
                <a:extLst>
                  <a:ext uri="{FF2B5EF4-FFF2-40B4-BE49-F238E27FC236}">
                    <a16:creationId xmlns:a16="http://schemas.microsoft.com/office/drawing/2014/main" id="{D3F9B378-5008-45F4-B353-4A667CD4F479}"/>
                  </a:ext>
                </a:extLst>
              </p14:cNvPr>
              <p14:cNvContentPartPr/>
              <p14:nvPr/>
            </p14:nvContentPartPr>
            <p14:xfrm>
              <a:off x="9774530" y="2806744"/>
              <a:ext cx="360" cy="360"/>
            </p14:xfrm>
          </p:contentPart>
        </mc:Choice>
        <mc:Fallback xmlns="">
          <p:pic>
            <p:nvPicPr>
              <p:cNvPr id="10" name="Szabadkéz 9">
                <a:extLst>
                  <a:ext uri="{FF2B5EF4-FFF2-40B4-BE49-F238E27FC236}">
                    <a16:creationId xmlns:a16="http://schemas.microsoft.com/office/drawing/2014/main" id="{D3F9B378-5008-45F4-B353-4A667CD4F47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711890" y="2744104"/>
                <a:ext cx="126000" cy="126000"/>
              </a:xfrm>
              <a:prstGeom prst="rect">
                <a:avLst/>
              </a:prstGeom>
            </p:spPr>
          </p:pic>
        </mc:Fallback>
      </mc:AlternateContent>
      <p:pic>
        <p:nvPicPr>
          <p:cNvPr id="1030" name="Picture 6" descr="Download Silhouette Running Man.png | Wallpapers.com">
            <a:extLst>
              <a:ext uri="{FF2B5EF4-FFF2-40B4-BE49-F238E27FC236}">
                <a16:creationId xmlns:a16="http://schemas.microsoft.com/office/drawing/2014/main" id="{FF55147C-0842-4CA7-A0D6-74B08A4A0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628" y="866558"/>
            <a:ext cx="3394549" cy="6517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77921" y="1767332"/>
            <a:ext cx="1243013" cy="422553"/>
          </a:xfrm>
          <a:prstGeom prst="roundRect">
            <a:avLst>
              <a:gd name="adj" fmla="val 6388"/>
            </a:avLst>
          </a:prstGeom>
          <a:solidFill>
            <a:schemeClr val="accent2">
              <a:lumMod val="40000"/>
              <a:lumOff val="60000"/>
            </a:schemeClr>
          </a:solidFill>
          <a:ln/>
        </p:spPr>
      </p:sp>
      <p:sp>
        <p:nvSpPr>
          <p:cNvPr id="4" name="Text 1"/>
          <p:cNvSpPr/>
          <p:nvPr/>
        </p:nvSpPr>
        <p:spPr>
          <a:xfrm>
            <a:off x="712819" y="1834722"/>
            <a:ext cx="973217" cy="2877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PROBLÉMA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577921" y="2279777"/>
            <a:ext cx="6815018" cy="7028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1D1D1B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Miért van szükség erre?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577921" y="3544936"/>
            <a:ext cx="3374231" cy="421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1D1D1B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Papír alapú napló</a:t>
            </a:r>
            <a:endParaRPr lang="en-US" sz="2650" dirty="0"/>
          </a:p>
        </p:txBody>
      </p:sp>
      <p:sp>
        <p:nvSpPr>
          <p:cNvPr id="7" name="Text 4"/>
          <p:cNvSpPr/>
          <p:nvPr/>
        </p:nvSpPr>
        <p:spPr>
          <a:xfrm>
            <a:off x="577921" y="4191564"/>
            <a:ext cx="6253520" cy="359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0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Könnyen elvész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577921" y="4630071"/>
            <a:ext cx="6253520" cy="359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0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Nehéz áttekinteni</a:t>
            </a: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577921" y="5068578"/>
            <a:ext cx="6253520" cy="359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0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Statisztika = kézi számolás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577921" y="5507086"/>
            <a:ext cx="6253520" cy="359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0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Unalmas frissíteni</a:t>
            </a:r>
            <a:endParaRPr lang="en-US" sz="1750" dirty="0"/>
          </a:p>
        </p:txBody>
      </p:sp>
      <p:sp>
        <p:nvSpPr>
          <p:cNvPr id="11" name="Text 8"/>
          <p:cNvSpPr/>
          <p:nvPr/>
        </p:nvSpPr>
        <p:spPr>
          <a:xfrm>
            <a:off x="7387939" y="3544936"/>
            <a:ext cx="3374231" cy="421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1D1D1B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Digitális megoldás</a:t>
            </a:r>
            <a:endParaRPr lang="en-US" sz="2650" dirty="0"/>
          </a:p>
        </p:txBody>
      </p:sp>
      <p:sp>
        <p:nvSpPr>
          <p:cNvPr id="12" name="Text 9"/>
          <p:cNvSpPr/>
          <p:nvPr/>
        </p:nvSpPr>
        <p:spPr>
          <a:xfrm>
            <a:off x="7387939" y="4191564"/>
            <a:ext cx="6253520" cy="359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0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Mindig elérhető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7387939" y="4630071"/>
            <a:ext cx="6253520" cy="359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0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Automatikus elemzés</a:t>
            </a:r>
            <a:endParaRPr lang="en-US" sz="1750" dirty="0"/>
          </a:p>
        </p:txBody>
      </p:sp>
      <p:sp>
        <p:nvSpPr>
          <p:cNvPr id="14" name="Text 11"/>
          <p:cNvSpPr/>
          <p:nvPr/>
        </p:nvSpPr>
        <p:spPr>
          <a:xfrm>
            <a:off x="7387939" y="5068578"/>
            <a:ext cx="6253520" cy="359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0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Gyors rögzítés</a:t>
            </a:r>
            <a:endParaRPr lang="en-US" sz="1750" dirty="0"/>
          </a:p>
        </p:txBody>
      </p:sp>
      <p:sp>
        <p:nvSpPr>
          <p:cNvPr id="15" name="Text 12"/>
          <p:cNvSpPr/>
          <p:nvPr/>
        </p:nvSpPr>
        <p:spPr>
          <a:xfrm>
            <a:off x="7387939" y="5507086"/>
            <a:ext cx="6253520" cy="359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0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Motiváló</a:t>
            </a:r>
            <a:endParaRPr lang="en-US" sz="1750" dirty="0"/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1561386"/>
            <a:ext cx="2049066" cy="426244"/>
          </a:xfrm>
          <a:prstGeom prst="roundRect">
            <a:avLst>
              <a:gd name="adj" fmla="val 6386"/>
            </a:avLst>
          </a:prstGeom>
          <a:solidFill>
            <a:schemeClr val="accent2">
              <a:lumMod val="20000"/>
              <a:lumOff val="80000"/>
            </a:schemeClr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9878" y="1683782"/>
            <a:ext cx="181451" cy="18145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02055" y="1629370"/>
            <a:ext cx="1504712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ADATSTRUKTÚRA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93790" y="2078355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D1D1B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Mit tárolunk?</a:t>
            </a:r>
            <a:endParaRPr lang="en-US" sz="4450" dirty="0"/>
          </a:p>
        </p:txBody>
      </p:sp>
      <p:sp>
        <p:nvSpPr>
          <p:cNvPr id="6" name="Shape 3"/>
          <p:cNvSpPr/>
          <p:nvPr/>
        </p:nvSpPr>
        <p:spPr>
          <a:xfrm>
            <a:off x="793790" y="3127296"/>
            <a:ext cx="6407944" cy="3540800"/>
          </a:xfrm>
          <a:prstGeom prst="roundRect">
            <a:avLst>
              <a:gd name="adj" fmla="val 961"/>
            </a:avLst>
          </a:prstGeom>
          <a:solidFill>
            <a:srgbClr val="DFFBE6"/>
          </a:solidFill>
          <a:ln/>
        </p:spPr>
      </p:sp>
      <p:sp>
        <p:nvSpPr>
          <p:cNvPr id="7" name="Shape 4"/>
          <p:cNvSpPr/>
          <p:nvPr/>
        </p:nvSpPr>
        <p:spPr>
          <a:xfrm>
            <a:off x="1020604" y="3354110"/>
            <a:ext cx="680442" cy="680442"/>
          </a:xfrm>
          <a:prstGeom prst="roundRect">
            <a:avLst>
              <a:gd name="adj" fmla="val 13436980"/>
            </a:avLst>
          </a:prstGeom>
          <a:solidFill>
            <a:schemeClr val="accent2">
              <a:lumMod val="75000"/>
            </a:schemeClr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07770" y="3541157"/>
            <a:ext cx="306110" cy="30611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20604" y="426136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1615C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Személyes adatok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1020604" y="4751784"/>
            <a:ext cx="59543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Testsúly (kg)</a:t>
            </a:r>
            <a:endParaRPr lang="en-US" sz="1750" dirty="0"/>
          </a:p>
        </p:txBody>
      </p:sp>
      <p:sp>
        <p:nvSpPr>
          <p:cNvPr id="11" name="Text 7"/>
          <p:cNvSpPr/>
          <p:nvPr/>
        </p:nvSpPr>
        <p:spPr>
          <a:xfrm>
            <a:off x="1020604" y="5193983"/>
            <a:ext cx="59543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Magasság (cm)</a:t>
            </a:r>
            <a:endParaRPr lang="en-US" sz="1750" dirty="0"/>
          </a:p>
        </p:txBody>
      </p:sp>
      <p:sp>
        <p:nvSpPr>
          <p:cNvPr id="12" name="Text 8"/>
          <p:cNvSpPr/>
          <p:nvPr/>
        </p:nvSpPr>
        <p:spPr>
          <a:xfrm>
            <a:off x="1020604" y="5636181"/>
            <a:ext cx="59543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Nyugalmi pulzus</a:t>
            </a:r>
            <a:endParaRPr lang="en-US" sz="1750" dirty="0"/>
          </a:p>
        </p:txBody>
      </p:sp>
      <p:sp>
        <p:nvSpPr>
          <p:cNvPr id="13" name="Shape 9"/>
          <p:cNvSpPr/>
          <p:nvPr/>
        </p:nvSpPr>
        <p:spPr>
          <a:xfrm>
            <a:off x="7428548" y="3127296"/>
            <a:ext cx="6408063" cy="3540800"/>
          </a:xfrm>
          <a:prstGeom prst="roundRect">
            <a:avLst>
              <a:gd name="adj" fmla="val 961"/>
            </a:avLst>
          </a:prstGeom>
          <a:solidFill>
            <a:srgbClr val="DFFBE6"/>
          </a:solidFill>
          <a:ln/>
        </p:spPr>
      </p:sp>
      <p:sp>
        <p:nvSpPr>
          <p:cNvPr id="14" name="Shape 10"/>
          <p:cNvSpPr/>
          <p:nvPr/>
        </p:nvSpPr>
        <p:spPr>
          <a:xfrm>
            <a:off x="7655362" y="3354110"/>
            <a:ext cx="680442" cy="680442"/>
          </a:xfrm>
          <a:prstGeom prst="roundRect">
            <a:avLst>
              <a:gd name="adj" fmla="val 13436980"/>
            </a:avLst>
          </a:prstGeom>
          <a:solidFill>
            <a:schemeClr val="accent2">
              <a:lumMod val="75000"/>
            </a:schemeClr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42528" y="3541157"/>
            <a:ext cx="306110" cy="30611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655362" y="426136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1615C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Edzés adatok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7655362" y="4751784"/>
            <a:ext cx="595443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Távolság (km)</a:t>
            </a:r>
            <a:endParaRPr lang="en-US" sz="1750" dirty="0"/>
          </a:p>
        </p:txBody>
      </p:sp>
      <p:sp>
        <p:nvSpPr>
          <p:cNvPr id="18" name="Text 13"/>
          <p:cNvSpPr/>
          <p:nvPr/>
        </p:nvSpPr>
        <p:spPr>
          <a:xfrm>
            <a:off x="7655362" y="5193983"/>
            <a:ext cx="595443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Időtartam (perc)</a:t>
            </a:r>
            <a:endParaRPr lang="en-US" sz="1750" dirty="0"/>
          </a:p>
        </p:txBody>
      </p:sp>
      <p:sp>
        <p:nvSpPr>
          <p:cNvPr id="19" name="Text 14"/>
          <p:cNvSpPr/>
          <p:nvPr/>
        </p:nvSpPr>
        <p:spPr>
          <a:xfrm>
            <a:off x="7655362" y="5636181"/>
            <a:ext cx="595443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Max pulzus</a:t>
            </a:r>
            <a:endParaRPr lang="en-US" sz="1750" dirty="0"/>
          </a:p>
        </p:txBody>
      </p:sp>
      <p:sp>
        <p:nvSpPr>
          <p:cNvPr id="20" name="Text 15"/>
          <p:cNvSpPr/>
          <p:nvPr/>
        </p:nvSpPr>
        <p:spPr>
          <a:xfrm>
            <a:off x="7655362" y="6078379"/>
            <a:ext cx="595443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Dátum</a:t>
            </a:r>
            <a:endParaRPr lang="en-US" sz="1750" dirty="0"/>
          </a:p>
        </p:txBody>
      </p:sp>
    </p:spTree>
  </p:cSld>
  <p:clrMapOvr>
    <a:masterClrMapping/>
  </p:clrMapOvr>
  <p:transition spd="slow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 flipH="1">
            <a:off x="904174" y="1774626"/>
            <a:ext cx="1178013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87254" y="2192774"/>
            <a:ext cx="5185648" cy="6480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100"/>
              </a:lnSpc>
              <a:buNone/>
            </a:pPr>
            <a:r>
              <a:rPr lang="en-US" sz="4050" dirty="0">
                <a:solidFill>
                  <a:srgbClr val="1D1D1B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Mit tud a program?</a:t>
            </a:r>
            <a:endParaRPr lang="en-US" sz="4050" dirty="0"/>
          </a:p>
        </p:txBody>
      </p:sp>
      <p:sp>
        <p:nvSpPr>
          <p:cNvPr id="6" name="Text 3"/>
          <p:cNvSpPr/>
          <p:nvPr/>
        </p:nvSpPr>
        <p:spPr>
          <a:xfrm>
            <a:off x="904174" y="3176762"/>
            <a:ext cx="207407" cy="259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dirty="0">
                <a:solidFill>
                  <a:srgbClr val="61615C"/>
                </a:solidFill>
                <a:latin typeface="Tomorrow" panose="020B0604020202020204" charset="0"/>
                <a:ea typeface="Tomorrow Light" pitchFamily="34" charset="-122"/>
                <a:cs typeface="Tomorrow Light" pitchFamily="34" charset="-120"/>
              </a:rPr>
              <a:t>01</a:t>
            </a:r>
            <a:endParaRPr lang="en-US" sz="1600" dirty="0">
              <a:latin typeface="Tomorrow" panose="020B0604020202020204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887254" y="3481506"/>
            <a:ext cx="6456164" cy="22860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</p:sp>
      <p:sp>
        <p:nvSpPr>
          <p:cNvPr id="8" name="Text 5"/>
          <p:cNvSpPr/>
          <p:nvPr/>
        </p:nvSpPr>
        <p:spPr>
          <a:xfrm>
            <a:off x="887254" y="3630930"/>
            <a:ext cx="3023734" cy="324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hu-HU" sz="2000" dirty="0">
                <a:solidFill>
                  <a:srgbClr val="61615C"/>
                </a:solidFill>
                <a:latin typeface="Tomorrow Semi Bold" pitchFamily="34" charset="0"/>
              </a:rPr>
              <a:t>Több felhasználó felvitelét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87254" y="4079438"/>
            <a:ext cx="6456164" cy="3318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hu-HU" sz="1600" dirty="0">
                <a:solidFill>
                  <a:srgbClr val="61615C"/>
                </a:solidFill>
                <a:latin typeface="Tomorrow" pitchFamily="34" charset="0"/>
              </a:rPr>
              <a:t>Akár több felhasználót is képes kezelni a program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550825" y="3151941"/>
            <a:ext cx="207407" cy="259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dirty="0">
                <a:solidFill>
                  <a:srgbClr val="61615C"/>
                </a:solidFill>
                <a:latin typeface="Tomorrow" panose="020B0604020202020204" charset="0"/>
                <a:ea typeface="Tomorrow Light" pitchFamily="34" charset="-122"/>
                <a:cs typeface="Tomorrow Light" pitchFamily="34" charset="-120"/>
              </a:rPr>
              <a:t>02</a:t>
            </a:r>
            <a:endParaRPr lang="en-US" sz="1600" dirty="0">
              <a:latin typeface="Tomorrow" panose="020B0604020202020204" charset="0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7550825" y="3481506"/>
            <a:ext cx="6456283" cy="22860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</p:sp>
      <p:sp>
        <p:nvSpPr>
          <p:cNvPr id="12" name="Text 9"/>
          <p:cNvSpPr/>
          <p:nvPr/>
        </p:nvSpPr>
        <p:spPr>
          <a:xfrm>
            <a:off x="7550825" y="3630930"/>
            <a:ext cx="3278756" cy="324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00" dirty="0" err="1">
                <a:solidFill>
                  <a:srgbClr val="61615C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Adatok</a:t>
            </a:r>
            <a:r>
              <a:rPr lang="en-US" sz="2000" dirty="0">
                <a:solidFill>
                  <a:srgbClr val="61615C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 </a:t>
            </a:r>
            <a:r>
              <a:rPr lang="hu-HU" sz="2000" dirty="0">
                <a:solidFill>
                  <a:srgbClr val="61615C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megjelenítése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550825" y="4079438"/>
            <a:ext cx="6456283" cy="69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hu-HU" sz="1600" dirty="0">
                <a:solidFill>
                  <a:srgbClr val="61615C"/>
                </a:solidFill>
                <a:latin typeface="Tomorrow" pitchFamily="34" charset="0"/>
              </a:rPr>
              <a:t>Az edzések adatainak megjelenítése és az</a:t>
            </a:r>
          </a:p>
          <a:p>
            <a:pPr marL="0" indent="0" algn="l">
              <a:lnSpc>
                <a:spcPts val="2600"/>
              </a:lnSpc>
              <a:buNone/>
            </a:pPr>
            <a:r>
              <a:rPr lang="hu-HU" sz="1600" dirty="0">
                <a:solidFill>
                  <a:srgbClr val="61615C"/>
                </a:solidFill>
                <a:latin typeface="Tomorrow" pitchFamily="34" charset="0"/>
              </a:rPr>
              <a:t> adatok </a:t>
            </a:r>
            <a:r>
              <a:rPr lang="hu-HU" sz="1600" dirty="0" err="1">
                <a:solidFill>
                  <a:srgbClr val="61615C"/>
                </a:solidFill>
                <a:latin typeface="Tomorrow" pitchFamily="34" charset="0"/>
              </a:rPr>
              <a:t>statisztikálása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87254" y="4774168"/>
            <a:ext cx="207407" cy="259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dirty="0">
                <a:solidFill>
                  <a:srgbClr val="61615C"/>
                </a:solidFill>
                <a:latin typeface="Tomorrow" panose="020B0604020202020204" charset="0"/>
                <a:ea typeface="Tomorrow Light" pitchFamily="34" charset="-122"/>
                <a:cs typeface="Tomorrow Light" pitchFamily="34" charset="-120"/>
              </a:rPr>
              <a:t>03</a:t>
            </a:r>
            <a:endParaRPr lang="en-US" sz="1600" dirty="0">
              <a:latin typeface="Tomorrow" panose="020B0604020202020204" charset="0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887254" y="5103733"/>
            <a:ext cx="6456164" cy="22860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</p:sp>
      <p:sp>
        <p:nvSpPr>
          <p:cNvPr id="16" name="Text 13"/>
          <p:cNvSpPr/>
          <p:nvPr/>
        </p:nvSpPr>
        <p:spPr>
          <a:xfrm>
            <a:off x="887253" y="5253156"/>
            <a:ext cx="3541527" cy="324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2000" dirty="0" err="1">
                <a:solidFill>
                  <a:srgbClr val="61615C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Edzés</a:t>
            </a:r>
            <a:r>
              <a:rPr lang="en-US" sz="2000" dirty="0">
                <a:solidFill>
                  <a:srgbClr val="61615C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 </a:t>
            </a:r>
            <a:r>
              <a:rPr lang="en-US" sz="2000" dirty="0" err="1">
                <a:solidFill>
                  <a:srgbClr val="61615C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törlése</a:t>
            </a:r>
            <a:r>
              <a:rPr lang="hu-HU" sz="2000" dirty="0">
                <a:solidFill>
                  <a:srgbClr val="61615C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 és módosítása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7254" y="5701665"/>
            <a:ext cx="6456164" cy="3318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Hibás </a:t>
            </a:r>
            <a:r>
              <a:rPr lang="en-US" sz="1600" dirty="0" err="1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bejegyzések</a:t>
            </a:r>
            <a:r>
              <a:rPr lang="en-US" sz="16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</a:t>
            </a:r>
            <a:r>
              <a:rPr lang="en-US" sz="1600" dirty="0" err="1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eltávolítása</a:t>
            </a:r>
            <a:r>
              <a:rPr lang="hu-HU" sz="16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vagy módosítása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7550825" y="4774168"/>
            <a:ext cx="207407" cy="2591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dirty="0">
                <a:solidFill>
                  <a:srgbClr val="61615C"/>
                </a:solidFill>
                <a:latin typeface="Tomorrow" panose="020B0604020202020204" charset="0"/>
                <a:ea typeface="Tomorrow Light" pitchFamily="34" charset="-122"/>
                <a:cs typeface="Tomorrow Light" pitchFamily="34" charset="-120"/>
              </a:rPr>
              <a:t>04</a:t>
            </a:r>
            <a:endParaRPr lang="en-US" sz="1600" dirty="0">
              <a:latin typeface="Tomorrow" panose="020B0604020202020204" charset="0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7550825" y="5103733"/>
            <a:ext cx="6456283" cy="22860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</p:sp>
      <p:sp>
        <p:nvSpPr>
          <p:cNvPr id="20" name="Text 17"/>
          <p:cNvSpPr/>
          <p:nvPr/>
        </p:nvSpPr>
        <p:spPr>
          <a:xfrm>
            <a:off x="7550825" y="5253156"/>
            <a:ext cx="2592824" cy="324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hu-HU" sz="2000" dirty="0" err="1">
                <a:solidFill>
                  <a:srgbClr val="61615C"/>
                </a:solidFill>
                <a:latin typeface="Tomorrow Semi Bold" pitchFamily="34" charset="0"/>
              </a:rPr>
              <a:t>Admin</a:t>
            </a:r>
            <a:r>
              <a:rPr lang="hu-HU" sz="2000" dirty="0">
                <a:solidFill>
                  <a:srgbClr val="61615C"/>
                </a:solidFill>
                <a:latin typeface="Tomorrow Semi Bold" pitchFamily="34" charset="0"/>
              </a:rPr>
              <a:t> funkció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7550825" y="5701665"/>
            <a:ext cx="6456283" cy="11618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hu-HU" sz="1600" dirty="0">
                <a:solidFill>
                  <a:srgbClr val="61615C"/>
                </a:solidFill>
                <a:latin typeface="Tomorrow" pitchFamily="34" charset="0"/>
              </a:rPr>
              <a:t>Az </a:t>
            </a:r>
            <a:r>
              <a:rPr lang="hu-HU" sz="1600" dirty="0" err="1">
                <a:solidFill>
                  <a:srgbClr val="61615C"/>
                </a:solidFill>
                <a:latin typeface="Tomorrow" pitchFamily="34" charset="0"/>
              </a:rPr>
              <a:t>Admin</a:t>
            </a:r>
            <a:r>
              <a:rPr lang="hu-HU" sz="1600" dirty="0">
                <a:solidFill>
                  <a:srgbClr val="61615C"/>
                </a:solidFill>
                <a:latin typeface="Tomorrow" pitchFamily="34" charset="0"/>
              </a:rPr>
              <a:t> megtudja változtatni a jelszavakat</a:t>
            </a:r>
          </a:p>
          <a:p>
            <a:pPr marL="0" indent="0" algn="l">
              <a:lnSpc>
                <a:spcPts val="2600"/>
              </a:lnSpc>
              <a:buNone/>
            </a:pPr>
            <a:r>
              <a:rPr lang="hu-HU" sz="1600" dirty="0">
                <a:solidFill>
                  <a:srgbClr val="61615C"/>
                </a:solidFill>
                <a:latin typeface="Tomorrow" pitchFamily="34" charset="0"/>
              </a:rPr>
              <a:t> és felhasználó neveket</a:t>
            </a:r>
            <a:endParaRPr lang="en-US" sz="1600" dirty="0"/>
          </a:p>
        </p:txBody>
      </p:sp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473457" y="1516380"/>
            <a:ext cx="1262182" cy="317183"/>
          </a:xfrm>
          <a:prstGeom prst="roundRect">
            <a:avLst>
              <a:gd name="adj" fmla="val 6383"/>
            </a:avLst>
          </a:prstGeom>
          <a:solidFill>
            <a:schemeClr val="accent2">
              <a:lumMod val="20000"/>
              <a:lumOff val="80000"/>
            </a:schemeClr>
          </a:solidFill>
          <a:ln/>
        </p:spPr>
      </p:sp>
      <p:sp>
        <p:nvSpPr>
          <p:cNvPr id="4" name="Text 1"/>
          <p:cNvSpPr/>
          <p:nvPr/>
        </p:nvSpPr>
        <p:spPr>
          <a:xfrm>
            <a:off x="1574660" y="1566981"/>
            <a:ext cx="1059775" cy="2159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ALGORITMUSOK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473457" y="1900951"/>
            <a:ext cx="4869180" cy="5272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hu-HU" sz="3300">
                <a:solidFill>
                  <a:srgbClr val="1D1D1B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Főbb s</a:t>
            </a:r>
            <a:r>
              <a:rPr lang="en-US" sz="3300">
                <a:solidFill>
                  <a:srgbClr val="1D1D1B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zámítások</a:t>
            </a:r>
            <a:endParaRPr lang="en-US" sz="33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3457" y="2681168"/>
            <a:ext cx="843558" cy="134314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485727" y="2849880"/>
            <a:ext cx="2108835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61615C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Cél elérése</a:t>
            </a:r>
            <a:endParaRPr lang="en-US" sz="1650" dirty="0"/>
          </a:p>
        </p:txBody>
      </p:sp>
      <p:sp>
        <p:nvSpPr>
          <p:cNvPr id="8" name="Text 4"/>
          <p:cNvSpPr/>
          <p:nvPr/>
        </p:nvSpPr>
        <p:spPr>
          <a:xfrm>
            <a:off x="2485727" y="3214568"/>
            <a:ext cx="9658945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5 km teljesítve?</a:t>
            </a:r>
            <a:endParaRPr lang="en-US" sz="13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3457" y="4024312"/>
            <a:ext cx="843558" cy="13431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485727" y="4193024"/>
            <a:ext cx="2108835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61615C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Összesítés</a:t>
            </a:r>
            <a:endParaRPr lang="en-US" sz="1650" dirty="0"/>
          </a:p>
        </p:txBody>
      </p:sp>
      <p:sp>
        <p:nvSpPr>
          <p:cNvPr id="12" name="Text 7"/>
          <p:cNvSpPr/>
          <p:nvPr/>
        </p:nvSpPr>
        <p:spPr>
          <a:xfrm>
            <a:off x="2485727" y="4557712"/>
            <a:ext cx="9658945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Összes megtett táv</a:t>
            </a:r>
            <a:endParaRPr lang="en-US" sz="13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3457" y="5367456"/>
            <a:ext cx="843558" cy="134314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2485727" y="5536168"/>
            <a:ext cx="2108835" cy="263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61615C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Idő konverzió</a:t>
            </a:r>
            <a:endParaRPr lang="en-US" sz="1650" dirty="0"/>
          </a:p>
        </p:txBody>
      </p:sp>
      <p:sp>
        <p:nvSpPr>
          <p:cNvPr id="16" name="Text 10"/>
          <p:cNvSpPr/>
          <p:nvPr/>
        </p:nvSpPr>
        <p:spPr>
          <a:xfrm>
            <a:off x="2485727" y="5900856"/>
            <a:ext cx="9658945" cy="2699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3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Másodperc → óra:perc:mp</a:t>
            </a:r>
            <a:endParaRPr lang="en-US" sz="1300" dirty="0"/>
          </a:p>
        </p:txBody>
      </p:sp>
    </p:spTree>
  </p:cSld>
  <p:clrMapOvr>
    <a:masterClrMapping/>
  </p:clrMapOvr>
  <p:transition spd="slow">
    <p:push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/>
          <p:nvPr/>
        </p:nvSpPr>
        <p:spPr>
          <a:xfrm>
            <a:off x="793790" y="2197075"/>
            <a:ext cx="612731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1D1D1B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Felhasznált eszközök</a:t>
            </a:r>
            <a:endParaRPr lang="en-US" sz="4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3790" y="3246016"/>
            <a:ext cx="680442" cy="68044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757720" y="343734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hu-HU" sz="2200" dirty="0">
                <a:solidFill>
                  <a:srgbClr val="61615C"/>
                </a:solidFill>
                <a:latin typeface="Tomorrow Semi Bold" pitchFamily="34" charset="0"/>
              </a:rPr>
              <a:t>MVC modell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1757720" y="3927767"/>
            <a:ext cx="541567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hu-HU" sz="1750" dirty="0" err="1">
                <a:solidFill>
                  <a:srgbClr val="61615C"/>
                </a:solidFill>
                <a:latin typeface="Tomorrow" pitchFamily="34" charset="0"/>
              </a:rPr>
              <a:t>Models</a:t>
            </a:r>
            <a:r>
              <a:rPr lang="hu-HU" sz="1750" dirty="0">
                <a:solidFill>
                  <a:srgbClr val="61615C"/>
                </a:solidFill>
                <a:latin typeface="Tomorrow" pitchFamily="34" charset="0"/>
              </a:rPr>
              <a:t>, </a:t>
            </a:r>
            <a:r>
              <a:rPr lang="hu-HU" sz="1750" dirty="0" err="1">
                <a:solidFill>
                  <a:srgbClr val="61615C"/>
                </a:solidFill>
                <a:latin typeface="Tomorrow" pitchFamily="34" charset="0"/>
              </a:rPr>
              <a:t>View</a:t>
            </a:r>
            <a:r>
              <a:rPr lang="hu-HU" sz="1750" dirty="0">
                <a:solidFill>
                  <a:srgbClr val="61615C"/>
                </a:solidFill>
                <a:latin typeface="Tomorrow" pitchFamily="34" charset="0"/>
              </a:rPr>
              <a:t>, </a:t>
            </a:r>
            <a:r>
              <a:rPr lang="hu-HU" sz="1750" dirty="0" err="1">
                <a:solidFill>
                  <a:srgbClr val="61615C"/>
                </a:solidFill>
                <a:latin typeface="Tomorrow" pitchFamily="34" charset="0"/>
              </a:rPr>
              <a:t>Controller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56884" y="3246016"/>
            <a:ext cx="680442" cy="68044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420814" y="343734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hu-HU" sz="2200" dirty="0">
                <a:solidFill>
                  <a:srgbClr val="61615C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.NET Framework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8420814" y="3927767"/>
            <a:ext cx="541579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hu-HU" sz="1750" dirty="0" err="1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Consolos</a:t>
            </a:r>
            <a:r>
              <a:rPr lang="hu-HU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e</a:t>
            </a:r>
            <a:r>
              <a:rPr lang="en-US" sz="1750" dirty="0" err="1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gyszerű</a:t>
            </a: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</a:t>
            </a:r>
            <a:r>
              <a:rPr lang="en-US" sz="1750" dirty="0" err="1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szöveges</a:t>
            </a: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</a:t>
            </a:r>
            <a:r>
              <a:rPr lang="en-US" sz="1750" dirty="0" err="1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felület</a:t>
            </a:r>
            <a:endParaRPr lang="en-US" sz="17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3790" y="4772576"/>
            <a:ext cx="680442" cy="68044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757720" y="493563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1615C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List&lt;&gt;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757720" y="5426050"/>
            <a:ext cx="541567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hu-HU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Adatok tárolása listában</a:t>
            </a:r>
            <a:endParaRPr lang="en-US" sz="17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456884" y="4744298"/>
            <a:ext cx="680442" cy="68044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420814" y="493563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1615C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Osztályok</a:t>
            </a:r>
            <a:endParaRPr lang="en-US" sz="2200" dirty="0"/>
          </a:p>
        </p:txBody>
      </p:sp>
      <p:sp>
        <p:nvSpPr>
          <p:cNvPr id="17" name="Text 10"/>
          <p:cNvSpPr/>
          <p:nvPr/>
        </p:nvSpPr>
        <p:spPr>
          <a:xfrm>
            <a:off x="8420814" y="5426050"/>
            <a:ext cx="541579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Edzés + Futó modellek</a:t>
            </a:r>
            <a:endParaRPr lang="en-US" sz="1750" dirty="0"/>
          </a:p>
        </p:txBody>
      </p:sp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80191" y="1481552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 err="1">
                <a:solidFill>
                  <a:srgbClr val="1D1D1B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Összegzés</a:t>
            </a:r>
            <a:endParaRPr lang="en-US" sz="4450" b="1" dirty="0"/>
          </a:p>
        </p:txBody>
      </p:sp>
      <p:sp>
        <p:nvSpPr>
          <p:cNvPr id="4" name="Shape 1"/>
          <p:cNvSpPr/>
          <p:nvPr/>
        </p:nvSpPr>
        <p:spPr>
          <a:xfrm>
            <a:off x="6280191" y="3156641"/>
            <a:ext cx="5670590" cy="2191345"/>
          </a:xfrm>
          <a:prstGeom prst="roundRect">
            <a:avLst>
              <a:gd name="adj" fmla="val 1553"/>
            </a:avLst>
          </a:prstGeom>
          <a:solidFill>
            <a:schemeClr val="accent2">
              <a:lumMod val="75000"/>
            </a:schemeClr>
          </a:solidFill>
          <a:ln/>
        </p:spPr>
        <p:txBody>
          <a:bodyPr/>
          <a:lstStyle/>
          <a:p>
            <a:endParaRPr lang="hu-HU" dirty="0"/>
          </a:p>
        </p:txBody>
      </p:sp>
      <p:sp>
        <p:nvSpPr>
          <p:cNvPr id="5" name="Text 2"/>
          <p:cNvSpPr/>
          <p:nvPr/>
        </p:nvSpPr>
        <p:spPr>
          <a:xfrm>
            <a:off x="6507004" y="3383455"/>
            <a:ext cx="311967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Tomorrow Semi Bold" pitchFamily="34" charset="0"/>
                <a:ea typeface="Tomorrow Semi Bold" pitchFamily="34" charset="-122"/>
                <a:cs typeface="Tomorrow Semi Bold" pitchFamily="34" charset="-120"/>
              </a:rPr>
              <a:t>Működő alkalmazás ✓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507004" y="3873874"/>
            <a:ext cx="710279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FFFFFF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Adatok tárolása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6507004" y="4316072"/>
            <a:ext cx="710279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hu-HU" sz="1750" dirty="0">
                <a:solidFill>
                  <a:srgbClr val="FFFFFF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MVC</a:t>
            </a:r>
            <a:r>
              <a:rPr lang="en-US" sz="1750" dirty="0">
                <a:solidFill>
                  <a:srgbClr val="FFFFFF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</a:t>
            </a:r>
            <a:r>
              <a:rPr lang="hu-HU" sz="1750" dirty="0">
                <a:solidFill>
                  <a:srgbClr val="FFFFFF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rendezés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6507004" y="4758270"/>
            <a:ext cx="710279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FFFFFF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Statisztikák</a:t>
            </a:r>
            <a:endParaRPr lang="en-US" sz="1750" dirty="0"/>
          </a:p>
        </p:txBody>
      </p:sp>
      <p:sp>
        <p:nvSpPr>
          <p:cNvPr id="15" name="Text 12"/>
          <p:cNvSpPr/>
          <p:nvPr/>
        </p:nvSpPr>
        <p:spPr>
          <a:xfrm>
            <a:off x="5848469" y="6435482"/>
            <a:ext cx="7556421" cy="14305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4800" b="1" dirty="0">
                <a:latin typeface="Tomorrow" pitchFamily="34" charset="0"/>
                <a:ea typeface="Tomorrow" pitchFamily="34" charset="-122"/>
                <a:cs typeface="Tomorrow" pitchFamily="34" charset="-120"/>
              </a:rPr>
              <a:t>Köszönöm a figyelmet!</a:t>
            </a:r>
            <a:endParaRPr lang="en-US" sz="4800" dirty="0"/>
          </a:p>
        </p:txBody>
      </p:sp>
      <p:pic>
        <p:nvPicPr>
          <p:cNvPr id="17" name="Kép 16">
            <a:extLst>
              <a:ext uri="{FF2B5EF4-FFF2-40B4-BE49-F238E27FC236}">
                <a16:creationId xmlns:a16="http://schemas.microsoft.com/office/drawing/2014/main" id="{241F8BAF-E9FE-44B9-A724-38457749E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376284" cy="82547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Dimenzió">
  <a:themeElements>
    <a:clrScheme name="Dimenzió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Dimenzió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menzió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184</Words>
  <Application>Microsoft Office PowerPoint</Application>
  <PresentationFormat>Egyéni</PresentationFormat>
  <Paragraphs>70</Paragraphs>
  <Slides>7</Slides>
  <Notes>7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7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5" baseType="lpstr">
      <vt:lpstr>Calibri</vt:lpstr>
      <vt:lpstr>Arial</vt:lpstr>
      <vt:lpstr>Tomorrow Semi Bold</vt:lpstr>
      <vt:lpstr>Trebuchet MS</vt:lpstr>
      <vt:lpstr>Tomorrow Light</vt:lpstr>
      <vt:lpstr>Tomorrow</vt:lpstr>
      <vt:lpstr>Wingdings 3</vt:lpstr>
      <vt:lpstr>Dimenzió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subject/>
  <dc:creator>Bálint</dc:creator>
  <cp:lastModifiedBy>Szilágyi Bálint</cp:lastModifiedBy>
  <cp:revision>16</cp:revision>
  <dcterms:created xsi:type="dcterms:W3CDTF">2026-01-21T19:01:34Z</dcterms:created>
  <dcterms:modified xsi:type="dcterms:W3CDTF">2026-01-22T09:14:29Z</dcterms:modified>
</cp:coreProperties>
</file>